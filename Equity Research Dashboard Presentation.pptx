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lus Jakarta Sans" panose="020B0604020202020204" charset="0"/>
      <p:regular r:id="rId13"/>
      <p:bold r:id="rId14"/>
      <p:italic r:id="rId15"/>
      <p:boldItalic r:id="rId16"/>
    </p:embeddedFont>
    <p:embeddedFont>
      <p:font typeface="Space Grotesk" panose="020B0604020202020204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5543550"/>
            <a:ext cx="10972800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9963150" y="609600"/>
            <a:ext cx="1619250" cy="285750"/>
          </a:xfrm>
          <a:prstGeom prst="roundRect">
            <a:avLst>
              <a:gd name="adj" fmla="val 50000"/>
            </a:avLst>
          </a:prstGeom>
          <a:solidFill>
            <a:srgbClr val="15304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09600" y="5543550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652462"/>
            <a:ext cx="383381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9 — LLM RESEARCH TOOL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115550" y="666750"/>
            <a:ext cx="1409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NextHikes Capstone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2268884"/>
            <a:ext cx="9101137" cy="113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Equity Research &amp; News Summarization Dashboard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3598515"/>
            <a:ext cx="8667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 AI-powered financial intelligence platform transforming live market news into structured executive insights, audio briefs, and exportable reports.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5819775"/>
            <a:ext cx="12192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SUBMITTED TO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09600" y="6029325"/>
            <a:ext cx="1219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NextHikes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000250" y="5819775"/>
            <a:ext cx="1209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SUBMITTED BY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000250" y="6029325"/>
            <a:ext cx="12096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Rajbir Kaur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381375" y="5819775"/>
            <a:ext cx="305990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TECHNOLOGY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3381375" y="6029325"/>
            <a:ext cx="305990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LangChain • Groq • Streamlit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609600" y="2911673"/>
            <a:ext cx="3454449" cy="2028825"/>
          </a:xfrm>
          <a:prstGeom prst="roundRect">
            <a:avLst>
              <a:gd name="adj" fmla="val 751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4368849" y="2911673"/>
            <a:ext cx="3454449" cy="2028825"/>
          </a:xfrm>
          <a:prstGeom prst="roundRect">
            <a:avLst>
              <a:gd name="adj" fmla="val 751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8128099" y="2911673"/>
            <a:ext cx="3454449" cy="2028825"/>
          </a:xfrm>
          <a:prstGeom prst="roundRect">
            <a:avLst>
              <a:gd name="adj" fmla="val 751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925" y="32259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83174" y="32259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42424" y="322599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7750" y="3349823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06999" y="3349823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37674" y="3349823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OVERVIEW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Bridging Financial News Noise to Structured Market Intelligence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23925" y="3835598"/>
            <a:ext cx="370886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Data Stream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23925" y="4168973"/>
            <a:ext cx="292104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Direct ingestion of live global news articles via NewsAPI endpoint filters.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4683174" y="3835598"/>
            <a:ext cx="370886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Analysis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4683174" y="4168973"/>
            <a:ext cx="292104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LangChain and Groq LLM categorize key themes, market impact, and risks.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442424" y="3835598"/>
            <a:ext cx="370886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Multi-Modal Delivery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8442424" y="4168973"/>
            <a:ext cx="292104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gTTS audio synthesis with downloadable executive report files.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6459735" y="2078235"/>
            <a:ext cx="5122664" cy="3619500"/>
          </a:xfrm>
          <a:prstGeom prst="roundRect">
            <a:avLst>
              <a:gd name="adj" fmla="val 4210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609600" y="2168723"/>
            <a:ext cx="5507235" cy="10191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609600" y="3378398"/>
            <a:ext cx="5507235" cy="10191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609600" y="4588073"/>
            <a:ext cx="5507235" cy="10191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609600" y="2168723"/>
            <a:ext cx="38100" cy="10191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609600" y="3378398"/>
            <a:ext cx="38100" cy="101917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609600" y="4588073"/>
            <a:ext cx="38100" cy="101917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DEVELOPMENT &amp; PROTOTYPING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Development in Google Colab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726435" y="3135510"/>
            <a:ext cx="546556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# Key Colab Environment Imports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726435" y="3392685"/>
            <a:ext cx="5465564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import streamlit as st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726435" y="3621285"/>
            <a:ext cx="5465564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from langchain_groq import ChatGroq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6726435" y="3849885"/>
            <a:ext cx="5465564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from newsapi import NewsApiClient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726435" y="4078485"/>
            <a:ext cx="5465564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from gtts import gTTS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6726435" y="4497585"/>
            <a:ext cx="5465564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// Fast prototyping prior to GitHub push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76300" y="2359223"/>
            <a:ext cx="657816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Pipeline Prototyping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76300" y="2635448"/>
            <a:ext cx="510718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Validated raw JSON payloads from NewsAPI and engineered LangChain prompt templates.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876300" y="3568898"/>
            <a:ext cx="657816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LLM Chain Optimization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876300" y="3845123"/>
            <a:ext cx="510718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Benchmarked Groq LLM inference speeds and refined output formatting requirements.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76300" y="4778573"/>
            <a:ext cx="657816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Audio Synthesis Testing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876300" y="5054798"/>
            <a:ext cx="5107185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Configured gTTS audio generation buffer and stream formatting for browser playback.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/>
          <p:nvPr/>
        </p:nvSpPr>
        <p:spPr>
          <a:xfrm>
            <a:off x="609600" y="3192660"/>
            <a:ext cx="2271712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3509962" y="3192660"/>
            <a:ext cx="2271712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6410325" y="3192660"/>
            <a:ext cx="2271712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9310687" y="3192660"/>
            <a:ext cx="2271712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1" name="Google Shape;15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09912" y="382607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10275" y="382607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10637" y="382607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2106" y="347841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79131" y="3478410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12831" y="347841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294143" y="3478410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ARCHITECTURE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End-to-End Data Processing Pipeline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567183" y="3764160"/>
            <a:ext cx="235654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User Parameters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623292" y="4040385"/>
            <a:ext cx="224432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Query, date range, and language selections.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3467546" y="3764160"/>
            <a:ext cx="235654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NewsAPI Ingestion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3523654" y="4040385"/>
            <a:ext cx="224432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Fetches top articles with thumbnails and metadata.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6367908" y="3764160"/>
            <a:ext cx="235654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LangChain &amp; Groq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6424017" y="4040385"/>
            <a:ext cx="224432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Synthesizes insights into 4 matrix dimensions.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9268271" y="3764160"/>
            <a:ext cx="235654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Streamlit UI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9324379" y="4040385"/>
            <a:ext cx="224432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Renders audio, tables, cards, and export button.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/>
          <p:nvPr/>
        </p:nvSpPr>
        <p:spPr>
          <a:xfrm>
            <a:off x="609600" y="3240285"/>
            <a:ext cx="2571750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3409950" y="3330773"/>
            <a:ext cx="257175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6210300" y="3240285"/>
            <a:ext cx="2571750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9010650" y="3240285"/>
            <a:ext cx="2571750" cy="137160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TECHNOLOGY STACK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Production-Grade Frameworks &amp; APIs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876300" y="3506985"/>
            <a:ext cx="267533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Streamlit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876300" y="3802260"/>
            <a:ext cx="21336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dashboard framework for Python data apps.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3676650" y="3597473"/>
            <a:ext cx="267533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LangChain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3676650" y="3892748"/>
            <a:ext cx="213360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Orchestrates LLM prompts, chains, and response parsing.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6477000" y="3506985"/>
            <a:ext cx="267533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Groq Llama-3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6477000" y="3802260"/>
            <a:ext cx="21336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Ultra-fast LLM inference engine for rapid response generation.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9277350" y="3506985"/>
            <a:ext cx="2675334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NewsAPI &amp; gTTS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9277350" y="3802260"/>
            <a:ext cx="21336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article retrieval and text-to-speech audio rendering.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609600" y="3045023"/>
            <a:ext cx="5334000" cy="1685925"/>
          </a:xfrm>
          <a:prstGeom prst="roundRect">
            <a:avLst>
              <a:gd name="adj" fmla="val 9039"/>
            </a:avLst>
          </a:prstGeom>
          <a:solidFill>
            <a:srgbClr val="EFF6FF"/>
          </a:solidFill>
          <a:ln w="9525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6248400" y="3130748"/>
            <a:ext cx="5334000" cy="1514475"/>
          </a:xfrm>
          <a:prstGeom prst="roundRect">
            <a:avLst>
              <a:gd name="adj" fmla="val 10062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925" y="336411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62725" y="3449835"/>
            <a:ext cx="2190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DEPLOYMENT &amp; ACCESS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 Production Environment on Streamlit Cloud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923925" y="3749873"/>
            <a:ext cx="4800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rPr>
              <a:t>https://project-9-frq3nh5nskwhdeieqxg9sa.streamlit.app/</a:t>
            </a:r>
            <a:endParaRPr dirty="0"/>
          </a:p>
        </p:txBody>
      </p:sp>
      <p:sp>
        <p:nvSpPr>
          <p:cNvPr id="197" name="Google Shape;197;p18"/>
          <p:cNvSpPr txBox="1"/>
          <p:nvPr/>
        </p:nvSpPr>
        <p:spPr>
          <a:xfrm>
            <a:off x="923925" y="4245173"/>
            <a:ext cx="5881687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Permanent URL hosted on Streamlit Community Cloud (24/7 availability).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562725" y="3835598"/>
            <a:ext cx="56292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https://github.com/rajbirkaurinfo97-png/Project-9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562725" y="4159448"/>
            <a:ext cx="56292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Version controlled repo connected to automatic cloud deployment triggers.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1266825" y="3359348"/>
            <a:ext cx="2425303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 Dashboard Link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896100" y="3445073"/>
            <a:ext cx="216277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GitHub Codebase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/>
          <p:nvPr/>
        </p:nvSpPr>
        <p:spPr>
          <a:xfrm>
            <a:off x="609600" y="2816423"/>
            <a:ext cx="5638800" cy="2143125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3200" y="2173485"/>
            <a:ext cx="50292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62725" y="2183010"/>
            <a:ext cx="5010150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 CAPABILITIES — INPUTS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Search Controls &amp; Filtering Parameters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923925" y="3130748"/>
            <a:ext cx="6575821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Sidebar Control Features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923925" y="3502223"/>
            <a:ext cx="62626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Research Query: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Target specific tickers, sectors, or macro topics.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923925" y="3816548"/>
            <a:ext cx="62626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Date Range Selector: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Filter news by historical or recent timeframes.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923925" y="4130873"/>
            <a:ext cx="62626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Language Preference: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Specify ISO language codes for global feeds.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923925" y="4445198"/>
            <a:ext cx="62626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One-Click Fetch: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Triggers parallel API extraction &amp; LLM execution.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"/>
          <p:cNvSpPr/>
          <p:nvPr/>
        </p:nvSpPr>
        <p:spPr>
          <a:xfrm>
            <a:off x="609600" y="3183135"/>
            <a:ext cx="257175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3409950" y="3183135"/>
            <a:ext cx="257175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6210300" y="3097410"/>
            <a:ext cx="2571750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9010650" y="3183135"/>
            <a:ext cx="257175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725" y="345936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48075" y="345936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48425" y="3373635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48775" y="3459360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DASHBOARD CAPABILITIES — OUTPUTS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Multi-Modal Output Deliverables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847725" y="3735585"/>
            <a:ext cx="275034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Matrix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847725" y="4011810"/>
            <a:ext cx="2190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Categorized themes, market impacts, and geopolitical lenses.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3648075" y="3735585"/>
            <a:ext cx="275034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Audio Briefing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3648075" y="4011810"/>
            <a:ext cx="2190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1-minute audio player for executive listening.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6448425" y="3649860"/>
            <a:ext cx="275034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Report Export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6448425" y="3926085"/>
            <a:ext cx="219075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One-click download of generated summary reports in .txt format.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9248775" y="3735585"/>
            <a:ext cx="275034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 News Feed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9248775" y="4011810"/>
            <a:ext cx="21907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grid of news cards with direct source links.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/>
          <p:nvPr/>
        </p:nvSpPr>
        <p:spPr>
          <a:xfrm>
            <a:off x="609600" y="2597348"/>
            <a:ext cx="10972800" cy="771525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609600" y="3521273"/>
            <a:ext cx="10972800" cy="771525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609600" y="4445198"/>
            <a:ext cx="10972800" cy="771525"/>
          </a:xfrm>
          <a:prstGeom prst="roundRect">
            <a:avLst>
              <a:gd name="adj" fmla="val 14814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DOCUMENTATION &amp; CITATIONS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References &amp; Technical Documentation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9983837" y="2906910"/>
            <a:ext cx="1700547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docs.streamlit.io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9743777" y="3830835"/>
            <a:ext cx="200062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python.langchain.com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9583638" y="4754760"/>
            <a:ext cx="220079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groq.com | newsapi.org</a:t>
            </a:r>
            <a:endParaRPr/>
          </a:p>
        </p:txBody>
      </p:sp>
      <p:sp>
        <p:nvSpPr>
          <p:cNvPr id="250" name="Google Shape;250;p21"/>
          <p:cNvSpPr txBox="1"/>
          <p:nvPr/>
        </p:nvSpPr>
        <p:spPr>
          <a:xfrm>
            <a:off x="847725" y="2778323"/>
            <a:ext cx="646330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Streamlit Community Cloud Documentation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847725" y="3016448"/>
            <a:ext cx="615553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 deployment, secrets management (.toml), and runtime environment setup.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847725" y="3702248"/>
            <a:ext cx="582572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LangChain Python Framework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847725" y="3940373"/>
            <a:ext cx="554831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LLM orchestration, ChatGroq model integration, and prompt templates.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847725" y="4626173"/>
            <a:ext cx="5513189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Groq API Platform &amp; NewsAPI Endpoint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847725" y="4864298"/>
            <a:ext cx="525065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Llama-3 inference processing and live global financial news queries.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"/>
          <p:cNvSpPr/>
          <p:nvPr/>
        </p:nvSpPr>
        <p:spPr>
          <a:xfrm>
            <a:off x="609600" y="5829300"/>
            <a:ext cx="109728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609600" y="5829300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2" name="Google Shape;26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1200" y="2266950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3600" y="24193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 txBox="1"/>
          <p:nvPr/>
        </p:nvSpPr>
        <p:spPr>
          <a:xfrm>
            <a:off x="4245768" y="3067050"/>
            <a:ext cx="3700462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You!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1774031" y="3933825"/>
            <a:ext cx="864393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Equity Research &amp; News Summarization Dashboard is live and fully operational.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2064543" y="6067425"/>
            <a:ext cx="383381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Project:</a:t>
            </a: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Project 9 — LLM News Research Tool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5682853" y="6067425"/>
            <a:ext cx="2131218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Submitted To:</a:t>
            </a: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NextHikes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7761684" y="6067425"/>
            <a:ext cx="2202656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Submitted By:</a:t>
            </a:r>
            <a:r>
              <a:rPr lang="en-US" sz="1125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Rajbir Kaur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564</Words>
  <Application>Microsoft Office PowerPoint</Application>
  <PresentationFormat>Widescreen</PresentationFormat>
  <Paragraphs>93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Space Grotesk</vt:lpstr>
      <vt:lpstr>Plus Jakarta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HUT2099</cp:lastModifiedBy>
  <cp:revision>2</cp:revision>
  <dcterms:modified xsi:type="dcterms:W3CDTF">2026-09-14T13:46:19Z</dcterms:modified>
</cp:coreProperties>
</file>